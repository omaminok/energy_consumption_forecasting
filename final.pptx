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6" r:id="rId5"/>
    <p:sldId id="258" r:id="rId6"/>
    <p:sldId id="259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(kW)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2F-4B6A-ADBB-906492E0EB5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C2F-4B6A-ADBB-906492E0EB5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C2F-4B6A-ADBB-906492E0EB5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C2F-4B6A-ADBB-906492E0EB5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C2F-4B6A-ADBB-906492E0EB5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C2F-4B6A-ADBB-906492E0EB5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C2F-4B6A-ADBB-906492E0EB53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BC2F-4B6A-ADBB-906492E0EB53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BC2F-4B6A-ADBB-906492E0EB5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BC2F-4B6A-ADBB-906492E0EB53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BC2F-4B6A-ADBB-906492E0EB53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BC2F-4B6A-ADBB-906492E0EB53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BC2F-4B6A-ADBB-906492E0EB53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BC2F-4B6A-ADBB-906492E0EB53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BC2F-4B6A-ADBB-906492E0EB53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BC2F-4B6A-ADBB-906492E0EB53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BC2F-4B6A-ADBB-906492E0EB53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BC2F-4B6A-ADBB-906492E0EB53}"/>
              </c:ext>
            </c:extLst>
          </c:dPt>
          <c:dPt>
            <c:idx val="18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BC2F-4B6A-ADBB-906492E0EB53}"/>
              </c:ext>
            </c:extLst>
          </c:dPt>
          <c:dPt>
            <c:idx val="19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BC2F-4B6A-ADBB-906492E0EB53}"/>
              </c:ext>
            </c:extLst>
          </c:dPt>
          <c:dPt>
            <c:idx val="20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BC2F-4B6A-ADBB-906492E0EB53}"/>
              </c:ext>
            </c:extLst>
          </c:dPt>
          <c:dPt>
            <c:idx val="2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BC2F-4B6A-ADBB-906492E0EB53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D-BC2F-4B6A-ADBB-906492E0EB53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F-BC2F-4B6A-ADBB-906492E0EB53}"/>
              </c:ext>
            </c:extLst>
          </c:dPt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0.9</c:v>
                </c:pt>
                <c:pt idx="1">
                  <c:v>0.7</c:v>
                </c:pt>
                <c:pt idx="2">
                  <c:v>0.65</c:v>
                </c:pt>
                <c:pt idx="3">
                  <c:v>0.62</c:v>
                </c:pt>
                <c:pt idx="4">
                  <c:v>0.63</c:v>
                </c:pt>
                <c:pt idx="5">
                  <c:v>0.75</c:v>
                </c:pt>
                <c:pt idx="6">
                  <c:v>1.1000000000000001</c:v>
                </c:pt>
                <c:pt idx="7">
                  <c:v>1.5</c:v>
                </c:pt>
                <c:pt idx="8">
                  <c:v>1.6</c:v>
                </c:pt>
                <c:pt idx="9">
                  <c:v>1.45</c:v>
                </c:pt>
                <c:pt idx="10">
                  <c:v>1.4</c:v>
                </c:pt>
                <c:pt idx="11">
                  <c:v>1.35</c:v>
                </c:pt>
                <c:pt idx="12">
                  <c:v>1.3</c:v>
                </c:pt>
                <c:pt idx="13">
                  <c:v>1.25</c:v>
                </c:pt>
                <c:pt idx="14">
                  <c:v>1.2</c:v>
                </c:pt>
                <c:pt idx="15">
                  <c:v>1.3</c:v>
                </c:pt>
                <c:pt idx="16">
                  <c:v>1.6</c:v>
                </c:pt>
                <c:pt idx="17">
                  <c:v>1.9</c:v>
                </c:pt>
                <c:pt idx="18">
                  <c:v>2.15</c:v>
                </c:pt>
                <c:pt idx="19">
                  <c:v>2.2000000000000002</c:v>
                </c:pt>
                <c:pt idx="20">
                  <c:v>2.1</c:v>
                </c:pt>
                <c:pt idx="21">
                  <c:v>1.9</c:v>
                </c:pt>
                <c:pt idx="22">
                  <c:v>1.6</c:v>
                </c:pt>
                <c:pt idx="2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BC2F-4B6A-ADBB-906492E0EB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761"/>
                </a:solidFill>
                <a:latin typeface="Arial"/>
              </a:rPr>
              <a:t>RMSE &amp; MAE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(kW)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Seasonal Naïve</c:v>
                </c:pt>
                <c:pt idx="1">
                  <c:v>SVR (RBF)</c:v>
                </c:pt>
                <c:pt idx="2">
                  <c:v>TTM + PINN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0.55000000000000004</c:v>
                </c:pt>
                <c:pt idx="1">
                  <c:v>0.39100000000000001</c:v>
                </c:pt>
                <c:pt idx="2">
                  <c:v>0.29799999999999999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EB-40ED-A85B-F71DEDCD35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 (kW)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Seasonal Naïve</c:v>
                </c:pt>
                <c:pt idx="1">
                  <c:v>SVR (RBF)</c:v>
                </c:pt>
                <c:pt idx="2">
                  <c:v>TTM + PINN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0.33700000000000002</c:v>
                </c:pt>
                <c:pt idx="1">
                  <c:v>0.27800000000000002</c:v>
                </c:pt>
                <c:pt idx="2">
                  <c:v>0.21099999999999999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EB-40ED-A85B-F71DEDCD35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761"/>
                </a:solidFill>
                <a:latin typeface="Arial"/>
              </a:rPr>
              <a:t>MASE (lower = better; &lt;1.0 beats naïve)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MASE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A68-4A14-A4E2-4043F672D88A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68-4A14-A4E2-4043F672D8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SVR (RBF)</c:v>
                </c:pt>
                <c:pt idx="1">
                  <c:v>TTM + PINN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0.82399999999999995</c:v>
                </c:pt>
                <c:pt idx="1">
                  <c:v>0.625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68-4A14-A4E2-4043F672D8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679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Digital Twin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7EFFF"/>
                </a:solidFill>
              </a:rPr>
              <a:t>Household Energy Forecasting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</a:rPr>
              <a:t>TTM + PINN + Conformal Prediction + ADWIN Drift Detection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937760" cy="36576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834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Manan Velani (U23CS027)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540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218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Dharav Bodat (	U23CS049)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4381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602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 Amin (U23CS076)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8221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986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Nikhil Chhasiya (U23CS022)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2062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UCI Household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Power Consumption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072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2006 – 2010  •  2.07M Records  •  1-Minute Resolution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2971800"/>
            <a:ext cx="987552" cy="86868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806440" y="299923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</a:rPr>
              <a:t>7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806440" y="341071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EFFF"/>
                </a:solidFill>
              </a:rPr>
              <a:t>Sensor Channels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22008" y="2971800"/>
            <a:ext cx="987552" cy="86868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922008" y="299923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</a:rPr>
              <a:t>~1.25%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922008" y="341071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EFFF"/>
                </a:solidFill>
              </a:rPr>
              <a:t>Missing Values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037576" y="2971800"/>
            <a:ext cx="987552" cy="86868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037576" y="299923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</a:rPr>
              <a:t>3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037576" y="341071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EFFF"/>
                </a:solidFill>
              </a:rPr>
              <a:t>Models Benchmarked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Department of Computer Science &amp; Engineering  •  SVNIT Surat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" y="162763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04088" y="1591056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Household energy consumption is inherently non-stationary with strong daily &amp; seasonal cycles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" y="228600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04088" y="2249424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Precise short-term forecasting (60-minute horizon) is critical for smart grid load balancing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94436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4088" y="290779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Traditional models fail to capture physics laws (energy conservation) alongside data patterns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360273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04088" y="3566160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Sensor drift and concept shift over time degrade model accuracy in production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4297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159105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Energy efficiency: accurate forecasting reduces wastage and lowers CO₂ emissions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2494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Smart meters generate terabytes of data — scalable ML pipelines are essential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2907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Industrial digital twins require uncertainty-aware, physics-consistent predictions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35661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Adaptive models that detect drift ensure reliability over multi-year deployments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🎯  Goal: Build a physics-informed, uncertainty-aware, drift-adaptive forecasting system for residential energy consumption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Exploratory Data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042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1051560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Peak Hours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31673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Energy peaks 18:00–21:00 daily (evening appliance use). Lowest consumption 03:00–06:00.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837944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Seasonal 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10312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Winter months (Dec–Feb) show significantly higher GAP, driven by heating. Strong annual cycle detected.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2615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" y="2624328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Weekend Shift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88950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Weekends (Sat–Sun) show higher daytime base load — occupants home; weekday mornings are low.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" y="3410712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Stationarity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6758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ADF test: p &lt; 0.05 → Stationary at macro level. KPSS confirms dual seasonality (daily + annual).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16966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4197096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Lag Correlation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46227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Strongest ACF peaks at Lag 24 (same hour −1 day) and Lag 168 (same hour −1 week).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10241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Avg. Power by Hour of Day (kW)</a:t>
            </a:r>
            <a:endParaRPr lang="en-US" sz="10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480560" y="1298448"/>
          <a:ext cx="44348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4617720" y="33375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Feature Correlation Highlights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3611880"/>
          <a:ext cx="4434840" cy="132588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 Pair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Correlation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GAP ↔ Global_intensity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≈ 1.00 (dropped)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GAP ↔ Sub_metering_3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≈ 0.62 (strongest)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GAP ↔ Voltage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≈ −0.21 (weak negative)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GAP ↔ Sub_metering_1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≈ 0.15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7003C4-444E-31F8-DE42-0314B8CAA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71071" cy="1546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398C49-44E6-03A1-05CD-44CC75A19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200" y="1"/>
            <a:ext cx="4957800" cy="1546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F0AC43-00C6-B428-59D8-0AB23C199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6422"/>
            <a:ext cx="4186200" cy="1886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7F9DCF-D7E6-7254-AF4A-323FB7FF5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1329" y="1546423"/>
            <a:ext cx="4942671" cy="18860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77942D-918C-BCD1-95BD-2913B751B6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32517"/>
            <a:ext cx="4201329" cy="17109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596D63-AD6A-4634-6555-C82C4942E5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6458" y="3432519"/>
            <a:ext cx="4927542" cy="171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0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2.07M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1554480" cy="96012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11680" y="1051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1 min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Granularity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1005840"/>
            <a:ext cx="1554480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49040" y="1051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4 yrs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4904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Duration (2006–2010)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005840"/>
            <a:ext cx="1554480" cy="96012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0" y="1051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Sensor Features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1005840"/>
            <a:ext cx="1554480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23760" y="1051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~1.25%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148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Feature Columns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87168"/>
          <a:ext cx="5760720" cy="24871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Global_active_power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kW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Total active power consumed (TARGET)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Global_reactive_power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kW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Reactive power (lag/lead)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Voltage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V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Mains supply voltage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Global_intensity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Avg current intensity (dropped — collinear)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Sub_metering_1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Wh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Kitchen appliances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Sub_metering_2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Wh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Laundry room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Sub_metering_3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Wh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HVAC / Water heater (strongest predictor)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309360" y="214884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446520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Source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46520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UCI ML Repository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(Household Power Consumption)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309360" y="3108960"/>
            <a:ext cx="256032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44652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Target Variable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3529584"/>
            <a:ext cx="2560320" cy="384048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400800" y="3538728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Global_active_power (kW)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46520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Key Insight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46520" y="4251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Global_intensity dropped (perfectly collinear with GAP).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4048" y="11612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Ingest &amp; Parse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Load .txt (semicolon-delimited), parse Date+Time → DatetimeIndex. Reindex to full 1-min range to expose gaps. Cast all to float32.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18888" y="11612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1888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85232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Physical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481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Negative Global_active_power → NaN. Voltage outside [220V–255V] → NaN. Compute E_rem = GAP×(1000/60) − S1 − S2 − S3.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248716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Hierarchical Imputation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8072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Short gaps (&lt;30 min): cubic interpolation. Long gaps: seasonal fill from hour×weekday means. Finally ffill/bfill as safety net.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3774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18888" y="24871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1888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85232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Outlier Treatment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8072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IQR clipping (1.5×IQR) for GAP, Voltage, Global_intensity. Extremes are capped — not dropped — as high-load events are real.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4048" y="381304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4048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0392" y="3813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Scaling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13308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MinMaxScaler for all power/energy columns. StandardScaler for Voltage only. Applied fit-on-train, transform-on-test to prevent leakage.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7033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18888" y="3813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18888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85232" y="3813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Train / Val / Test Split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413308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Temporal (no shuffle): 70% Train → 15% Validation → 15% Test. Split index preserves chronological order across all models.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Methodology — Models &amp;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9144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12984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E_rem: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23160" y="12984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Kirchhoff remainder energy (physics constraint)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09344"/>
            <a:ext cx="9144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hour/month/weekday sin-cos: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23160" y="16093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Cyclical encoding (prevents discontinuity at midnight/year boundary)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9144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8912" y="19202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Lag-1, Lag-60, Lag-1440: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23160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1-min, 1-hour, 24-hour autoregressive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9144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" y="223113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Rolling mean/std (60m, 1440m):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223113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Short &amp; long-term volatility signal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TinyTimeMixer (TTM) Architecture  —  IBM NeurIPS 2024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044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1.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PatchEmbedding  →  projects windows of length 8 into d_model=64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4838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2.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4838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2× MixerBlock  →  time-mix MLP + feature-mix MLP (GELU + Dropout)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9227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3.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9227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MultiHeadAttention (4 heads) with stored weights for XAI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4361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4.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361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5-output head  [GAP, S1, S2, S3, E_rem]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987552"/>
            <a:ext cx="73152" cy="6858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27448" y="10058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Seasonal Naïve (CP-2a)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1280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Predicts y[t] = y[t−1440] (same minute yesterday). Provides MASE denominator for relative metric.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1819656"/>
            <a:ext cx="73152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27448" y="18379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SVR — RBF Kernel (CP-2b)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21122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GridSearchCV (C, γ) via 3-fold TimeSeriesSplit. Flattened sliding window as input. Benchmark from Aurangzeb et al.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2651760"/>
            <a:ext cx="73152" cy="6858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27448" y="26700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TTM + PINN Loss (CP-2c/3)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2944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L = 0.85 × MSE_data + 0.15 × Physics_loss. Physics: (GAP×1000/60 − S1−S2−S3−E_rem)²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3483864"/>
            <a:ext cx="73152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27448" y="35021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Conformal Prediction (CP-4a)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7448" y="37764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Memory-efficient split conformal: q_hat from val residuals. Target ≥95% coverage. No full matrix allocation.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4315968"/>
            <a:ext cx="73152" cy="685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27448" y="43342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ADWIN Drift Detection (CP-4b)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27448" y="46085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Streams residuals to ADWIN (δ=0.002). On drift: trigger 3-epoch TTM fine-tuning + detector reset.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5074920"/>
            <a:ext cx="4297680" cy="365760"/>
          </a:xfrm>
          <a:prstGeom prst="rect">
            <a:avLst/>
          </a:prstGeom>
          <a:solidFill>
            <a:srgbClr val="0A234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45152" y="510235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Config: window=168 | horizon=60 | batch=256 | lr=1e-3 | epochs=30 | patience=5 | AdamW + CosineAnnealingLR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1572768" cy="658368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RMSE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Root Mean Squared Error — penalises large spikes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93392" y="987552"/>
            <a:ext cx="1572768" cy="658368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993392" y="1005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MAE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93392" y="1280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Mean Absolute Error — avg deviation in kW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712464" y="987552"/>
            <a:ext cx="1572768" cy="658368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12464" y="1005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MASE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12464" y="1280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MAE / Naïve MAE — MASE &lt; 1.0 beats baseline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31536" y="987552"/>
            <a:ext cx="1572768" cy="658368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31536" y="1005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RRA-Dir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31536" y="1280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Ramp direction accuracy — correct sign of Δy?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150608" y="987552"/>
            <a:ext cx="1572768" cy="658368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50608" y="1005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RRA-Mag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50608" y="1280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Ramp magnitude accuracy — 1 − error / naïve ramp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Model Performance Comparison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57400"/>
          <a:ext cx="9052560" cy="12801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RMSE (kW)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MAE (kW)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MASE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RRA-Dir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RRA-Mag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Seasonal Naïve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Baseline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1.000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SVR (RBF)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0.391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0.278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8090"/>
                          </a:solidFill>
                        </a:rPr>
                        <a:t>0.824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71.2%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0.683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TTM + PINN  ★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0.298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0.211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0.625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78.9%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0.742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Chart 0"/>
          <p:cNvGraphicFramePr/>
          <p:nvPr/>
        </p:nvGraphicFramePr>
        <p:xfrm>
          <a:off x="274320" y="3566160"/>
          <a:ext cx="42976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1"/>
          <p:cNvGraphicFramePr/>
          <p:nvPr/>
        </p:nvGraphicFramePr>
        <p:xfrm>
          <a:off x="4846320" y="3566160"/>
          <a:ext cx="40233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Shape 18"/>
          <p:cNvSpPr/>
          <p:nvPr/>
        </p:nvSpPr>
        <p:spPr>
          <a:xfrm>
            <a:off x="274320" y="4983480"/>
            <a:ext cx="85953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</a:rPr>
              <a:t>★  TTM + PINN achieves best scores across all metrics. Conformal predictor delivers ≥95% empirical coverage on test set.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Comparison with Reference Paper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Reference: Aurangzeb et al. — King Saud University Journal of Engineering Sciences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"Short-Term Power Load Forecasting Using Deep Learning Approaches" — SVR with RBF kernel identified as optimal classical method (Table 3). Paper benchmarks LSTM, CNN, SVR on UCI dataset.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65960"/>
          <a:ext cx="8595360" cy="296265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Aurangzeb et al. (Reference)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This Work (Ours)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Best Model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SVR (RBF Kernel)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TTM + PINN (Foundation Model)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Architecture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Classical ML + 1-layer LSTM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PatchEmbedding + MixerBlocks + MHA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Physics Constraint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PINN Energy-Balance Loss (w2=0.15)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Uncertainty Output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Point forecast only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95% Conformal Prediction Intervals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Drift Handling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Static model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ADWIN drift detection + adaptive fine-tuning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MASE vs Naïve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~0.84 (reported)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0.625 ↓ (−25.6% improvement)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XAI / Explainability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SHAP GradientExplainer + Attention Rollout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Feature: E_rem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Not present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Kirchhoff balance feature engineered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937760"/>
            <a:ext cx="8595360" cy="347472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6"/>
          <p:cNvSpPr/>
          <p:nvPr/>
        </p:nvSpPr>
        <p:spPr>
          <a:xfrm>
            <a:off x="411480" y="49651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✅  Our system extends the reference by adding physics-informed training, conformal uncertainty bands, real-time drift detection, and XAI — all absent from the reference paper.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Challenges, Limitations &amp;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24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Challenges Faced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6245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MAPIE matrix OOM crash: full [N×W×F] matrix = 12.1 GB → replaced with memory-efficient batched conformal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95681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9293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ADWIN sensitivity: too-low delta triggered excessive false-positive drift events → tuned δ=0.002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52374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Numba/NumPy incompatibility with SHAP GradientExplainer — required downgrade to NumPy 1.24.4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09067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SVR scalability: flattened sliding window (168×58 features) too large for full training set → sampled 2,000 rows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6301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Colab kernel instability with large datasets: used nrows=50,000 subset for development runs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Current Limitations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138988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931920" y="136245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Single household — findings may not generalise to commercial/industrial meters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209397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931920" y="206654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Multi-step forecast limited to 60-min horizon; longer horizons untested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279806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31920" y="27706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PINN loss weights (w1=0.85, w2=0.15) fixed — not learned adaptively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350215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931920" y="3474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No real-time streaming pipeline — batch inference 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1024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Future Extensions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1371600"/>
            <a:ext cx="347472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722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Multi-household federated learning with differential privacy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2200" y="2029968"/>
            <a:ext cx="347472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7220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2029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Replace fixed PINN weights with meta-learned adaptive balance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2688336"/>
            <a:ext cx="347472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72200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6883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Deploy as real-time Kafka streaming pipeline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3346704"/>
            <a:ext cx="347472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17220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3467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Extend horizon to 24h with encoder-decoder Transformer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4005072"/>
            <a:ext cx="347472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7220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4005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Integrate weather API features (temperature, humidity)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47288" y="1024128"/>
            <a:ext cx="36576" cy="3749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035040" y="1024128"/>
            <a:ext cx="36576" cy="3749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 &amp; 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029968" cy="1170432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029968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1155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Best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TTM + PINN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Foundation model with physics-informed loss outperforms all baselines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6312" y="987552"/>
            <a:ext cx="2029968" cy="1170432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96312" y="987552"/>
            <a:ext cx="2029968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1155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MASE 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371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0.625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7556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37.5% lower error than seasonal naïve; 24.2% better than SVR (RBF)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72584" y="987552"/>
            <a:ext cx="2029968" cy="1170432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72584" y="987552"/>
            <a:ext cx="2029968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36592" y="11155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Coverage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6592" y="1371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≥ 95%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36592" y="17556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Conformal intervals guarantee marginal coverage on held-out test set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48856" y="987552"/>
            <a:ext cx="2029968" cy="1170432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48856" y="987552"/>
            <a:ext cx="2029968" cy="91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12864" y="11155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Drift Events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12864" y="1371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ADWIN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12864" y="17556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Adaptive fine-tuning triggered on drift; model stays current over time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2286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73152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0352" y="2633472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Physics-informed learning (PINN) reduces constraint violations and improves generalization beyond pure data-driven models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099816"/>
            <a:ext cx="73152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3081528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 engineering (E_rem, cyclical encodings, multi-scale lags) provides strong inductive bias — validated by SHAP &amp; Attention Rollout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47872"/>
            <a:ext cx="73152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30352" y="3529584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Memory-efficient split conformal prediction provides statistically rigorous uncertainty without incurring OOM on large datasets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995928"/>
            <a:ext cx="73152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0352" y="3977640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Sub_metering_3 (HVAC/Water heater) confirmed as the dominant predictor — consistent with Aurangzeb et al. (2021) findings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443984"/>
            <a:ext cx="73152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30352" y="4425696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Production-grade pipeline: automated drift detection, adaptive retraining, and interactive Plotly dashboard for operational monitoring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EFFF"/>
                </a:solidFill>
              </a:rPr>
              <a:t>UCI Household Power Consumption  •  TinyTimeMixer + PINN + ADWIN + Conformal Prediction  •  SVNIT Surat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1690</Words>
  <Application>Microsoft Office PowerPoint</Application>
  <PresentationFormat>On-screen Show (16:9)</PresentationFormat>
  <Paragraphs>277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– Household Energy Forecasting</dc:title>
  <dc:subject>PptxGenJS Presentation</dc:subject>
  <dc:creator>PptxGenJS</dc:creator>
  <cp:lastModifiedBy>Manan velani</cp:lastModifiedBy>
  <cp:revision>9</cp:revision>
  <dcterms:created xsi:type="dcterms:W3CDTF">2026-04-20T08:47:02Z</dcterms:created>
  <dcterms:modified xsi:type="dcterms:W3CDTF">2026-04-20T17:41:42Z</dcterms:modified>
</cp:coreProperties>
</file>